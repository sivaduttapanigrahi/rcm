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914400"/>
            <a:ext cx="128016" cy="128016"/>
          </a:xfrm>
          <a:prstGeom prst="ellipse">
            <a:avLst/>
          </a:prstGeom>
          <a:solidFill>
            <a:srgbClr val="192F4E"/>
          </a:solidFill>
          <a:ln w="1905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508760"/>
            <a:ext cx="128016" cy="128016"/>
          </a:xfrm>
          <a:prstGeom prst="ellipse">
            <a:avLst/>
          </a:prstGeom>
          <a:solidFill>
            <a:srgbClr val="192F4E"/>
          </a:solidFill>
          <a:ln w="1905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1828800"/>
            <a:ext cx="128016" cy="128016"/>
          </a:xfrm>
          <a:prstGeom prst="ellipse">
            <a:avLst/>
          </a:prstGeom>
          <a:solidFill>
            <a:srgbClr val="192F4E"/>
          </a:solidFill>
          <a:ln w="1905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64240" y="2331720"/>
            <a:ext cx="128016" cy="128016"/>
          </a:xfrm>
          <a:prstGeom prst="ellipse">
            <a:avLst/>
          </a:prstGeom>
          <a:solidFill>
            <a:srgbClr val="192F4E"/>
          </a:solidFill>
          <a:ln w="1905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60" y="2743200"/>
            <a:ext cx="128016" cy="128016"/>
          </a:xfrm>
          <a:prstGeom prst="ellipse">
            <a:avLst/>
          </a:prstGeom>
          <a:solidFill>
            <a:srgbClr val="192F4E"/>
          </a:solidFill>
          <a:ln w="1905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0058400" y="1005840"/>
            <a:ext cx="685800" cy="566928"/>
          </a:xfrm>
          <a:prstGeom prst="line">
            <a:avLst/>
          </a:prstGeom>
          <a:ln w="1270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0" y="1572768"/>
            <a:ext cx="1143000" cy="329184"/>
          </a:xfrm>
          <a:prstGeom prst="line">
            <a:avLst/>
          </a:prstGeom>
          <a:ln w="1270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44200" y="1572768"/>
            <a:ext cx="365760" cy="822960"/>
          </a:xfrm>
          <a:prstGeom prst="line">
            <a:avLst/>
          </a:prstGeom>
          <a:ln w="1270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82912" y="1901952"/>
            <a:ext cx="475488" cy="914400"/>
          </a:xfrm>
          <a:prstGeom prst="line">
            <a:avLst/>
          </a:prstGeom>
          <a:ln w="1270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640080"/>
            <a:ext cx="53035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30CDB8"/>
                </a:solidFill>
                <a:latin typeface="Aptos"/>
              </a:rPr>
              <a:t>AI / ML SOLUTION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170432"/>
            <a:ext cx="8046720" cy="12344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3100" b="1" i="0">
                <a:solidFill>
                  <a:srgbClr val="F5F8FC"/>
                </a:solidFill>
                <a:latin typeface="Aptos"/>
              </a:rPr>
              <a:t>Building a Production-Grade
Healthcare AI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78608"/>
            <a:ext cx="7955279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300" b="0" i="0">
                <a:solidFill>
                  <a:srgbClr val="A5B5CC"/>
                </a:solidFill>
                <a:latin typeface="Aptos"/>
              </a:rPr>
              <a:t>Agentic AI  •  RAG  •  Cloud  •  Governance  •  RCM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11430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A5B5CC"/>
                </a:solidFill>
                <a:latin typeface="Aptos"/>
              </a:rPr>
              <a:t>PHI /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58768"/>
            <a:ext cx="3200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30CDB8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886200"/>
            <a:ext cx="141732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A5B5CC"/>
                </a:solidFill>
                <a:latin typeface="Aptos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858768"/>
            <a:ext cx="3200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30CDB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886200"/>
            <a:ext cx="10058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A5B5CC"/>
                </a:solidFill>
                <a:latin typeface="Aptos"/>
              </a:rPr>
              <a:t>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58768"/>
            <a:ext cx="3200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30CDB8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886200"/>
            <a:ext cx="10972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A5B5CC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858768"/>
            <a:ext cx="32004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30CDB8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886200"/>
            <a:ext cx="118872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A5B5CC"/>
                </a:solidFill>
                <a:latin typeface="Aptos"/>
              </a:rPr>
              <a:t>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709160"/>
            <a:ext cx="2057400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1837943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500" b="1" i="0">
                <a:solidFill>
                  <a:srgbClr val="30CDB8"/>
                </a:solidFill>
                <a:latin typeface="Aptos"/>
              </a:rPr>
              <a:t>18+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1837943" cy="41147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A5B5CC"/>
                </a:solidFill>
                <a:latin typeface="Aptos"/>
              </a:rPr>
              <a:t>YEARS • AI / CLOUD / SOFTWARE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16352" y="4709160"/>
            <a:ext cx="2057400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0" y="4800600"/>
            <a:ext cx="1837943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500" b="1" i="0">
                <a:solidFill>
                  <a:srgbClr val="5297FF"/>
                </a:solidFill>
                <a:latin typeface="Aptos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276088"/>
            <a:ext cx="1837943" cy="41147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A5B5CC"/>
                </a:solidFill>
                <a:latin typeface="Aptos"/>
              </a:rPr>
              <a:t>GENAI • AGENTS • RAG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10912" y="4709160"/>
            <a:ext cx="2057400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40" y="4800600"/>
            <a:ext cx="1837943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500" b="1" i="0">
                <a:solidFill>
                  <a:srgbClr val="9D70FF"/>
                </a:solidFill>
                <a:latin typeface="Aptos"/>
              </a:rPr>
              <a:t>RCM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276088"/>
            <a:ext cx="1837943" cy="41147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A5B5CC"/>
                </a:solidFill>
                <a:latin typeface="Aptos"/>
              </a:rPr>
              <a:t>HEALTHCARE TARGET 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5472" y="4709160"/>
            <a:ext cx="2057400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0" y="4800600"/>
            <a:ext cx="1837943" cy="43891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2500" b="1" i="0">
                <a:solidFill>
                  <a:srgbClr val="FFAD5C"/>
                </a:solidFill>
                <a:latin typeface="Aptos"/>
              </a:rPr>
              <a:t>10M+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276088"/>
            <a:ext cx="1837943" cy="411479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1" i="0">
                <a:solidFill>
                  <a:srgbClr val="A5B5CC"/>
                </a:solidFill>
                <a:latin typeface="Aptos"/>
              </a:rPr>
              <a:t>PRODUCTION TRANSACTIONS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053328"/>
            <a:ext cx="777240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A5B5CC"/>
                </a:solidFill>
                <a:latin typeface="Aptos"/>
              </a:rPr>
              <a:t>Architecture portfolio for stakeholder-level discussion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A5B5CC"/>
                </a:solidFill>
                <a:latin typeface="Aptos"/>
              </a:rPr>
              <a:t>Healthcare AI Platform | Architecture interview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E73D4E-2047-AE6A-81A5-DD6E755FA818}"/>
              </a:ext>
            </a:extLst>
          </p:cNvPr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34549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111819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01 |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446686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 mindset: build for outcome, control, and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508722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Experience translated into a reusable healthcare AI platform blueprint.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3763" y="1443878"/>
            <a:ext cx="3383279" cy="481888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771325"/>
            <a:ext cx="214731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PROFESSIONAL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5911"/>
            <a:ext cx="2463110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AI/ML Technical Manager
&amp; Agentic AI / Cloud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571" y="2951537"/>
            <a:ext cx="3139309" cy="90178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n-US"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8+ years across enterprise software, cloud, data engineering and AI/ML. Focused on production GenAI, agent orchestration, RAG, platform architecture and measurable business outcomes.</a:t>
            </a:r>
            <a:endParaRPr sz="1100" b="0" i="0" dirty="0">
              <a:solidFill>
                <a:srgbClr val="A5B5CC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5060" y="4423084"/>
            <a:ext cx="88735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Agen</a:t>
            </a:r>
            <a:r>
              <a:rPr lang="en-IN" sz="1100" b="1" i="0" dirty="0" err="1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</a:t>
            </a:r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7327" y="4423084"/>
            <a:ext cx="3888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421" y="4861997"/>
            <a:ext cx="50263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1146" y="4861997"/>
            <a:ext cx="58118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MLOps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468" y="5300908"/>
            <a:ext cx="18395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Governance /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3678" y="1508760"/>
            <a:ext cx="27003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ARCHITECTURE CAPABILITY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4116" y="1915301"/>
            <a:ext cx="908198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
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5594" y="3009696"/>
            <a:ext cx="87293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7936" y="3020445"/>
            <a:ext cx="767197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5436" y="3009696"/>
            <a:ext cx="59881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974" y="3009696"/>
            <a:ext cx="85690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3667" y="3020444"/>
            <a:ext cx="110857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7283" y="3825881"/>
            <a:ext cx="246150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 ARCHITECTURE PRINCIPLES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7283" y="4272181"/>
            <a:ext cx="4586320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Secure by design</a:t>
            </a:r>
            <a:r>
              <a:rPr sz="1100" b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PHI boundaries • RBAC • private endpoints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5141" y="5091890"/>
            <a:ext cx="4118243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Evidence by design</a:t>
            </a:r>
            <a:r>
              <a:rPr sz="1100" b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RAG citations • source traceability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57283" y="4674845"/>
            <a:ext cx="3494675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Human by design</a:t>
            </a:r>
            <a:r>
              <a:rPr sz="1100" b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HITL for high-risk decisions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45141" y="5516467"/>
            <a:ext cx="4047711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100" b="1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Observable by design</a:t>
            </a:r>
            <a:r>
              <a:rPr sz="1100" b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Agent / model / tool telemetry</a:t>
            </a:r>
          </a:p>
        </p:txBody>
      </p:sp>
      <p:sp>
        <p:nvSpPr>
          <p:cNvPr id="47" name="TextBox 46"/>
          <p:cNvSpPr txBox="1"/>
          <p:nvPr/>
        </p:nvSpPr>
        <p:spPr>
          <a:xfrm rot="10800000" flipV="1">
            <a:off x="4057282" y="6016326"/>
            <a:ext cx="4207677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Cost by design</a:t>
            </a:r>
            <a:r>
              <a:rPr sz="1100" b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Routing • caching • right-sized models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43863E-6C66-24E1-886E-246B7C04698C}"/>
              </a:ext>
            </a:extLst>
          </p:cNvPr>
          <p:cNvSpPr txBox="1"/>
          <p:nvPr/>
        </p:nvSpPr>
        <p:spPr>
          <a:xfrm>
            <a:off x="5797849" y="3009695"/>
            <a:ext cx="42569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lang="en-IN" sz="1100" b="1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endParaRPr sz="1100" b="1" i="0" dirty="0">
              <a:solidFill>
                <a:srgbClr val="F5F8FC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4" name="Connector 89">
            <a:extLst>
              <a:ext uri="{FF2B5EF4-FFF2-40B4-BE49-F238E27FC236}">
                <a16:creationId xmlns:a16="http://schemas.microsoft.com/office/drawing/2014/main" id="{FE9C51FC-A874-92E2-E706-8C3FDE75B697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5052060" y="2335911"/>
            <a:ext cx="2002507" cy="673785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89">
            <a:extLst>
              <a:ext uri="{FF2B5EF4-FFF2-40B4-BE49-F238E27FC236}">
                <a16:creationId xmlns:a16="http://schemas.microsoft.com/office/drawing/2014/main" id="{19C8230D-EDA7-CDF4-A22E-687CC42A4F49}"/>
              </a:ext>
            </a:extLst>
          </p:cNvPr>
          <p:cNvCxnSpPr>
            <a:cxnSpLocks/>
          </p:cNvCxnSpPr>
          <p:nvPr/>
        </p:nvCxnSpPr>
        <p:spPr>
          <a:xfrm flipH="1">
            <a:off x="6177077" y="2358671"/>
            <a:ext cx="877490" cy="57090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89">
            <a:extLst>
              <a:ext uri="{FF2B5EF4-FFF2-40B4-BE49-F238E27FC236}">
                <a16:creationId xmlns:a16="http://schemas.microsoft.com/office/drawing/2014/main" id="{6126BE9F-687E-62AD-E260-7DF58F343898}"/>
              </a:ext>
            </a:extLst>
          </p:cNvPr>
          <p:cNvCxnSpPr>
            <a:cxnSpLocks/>
          </p:cNvCxnSpPr>
          <p:nvPr/>
        </p:nvCxnSpPr>
        <p:spPr>
          <a:xfrm>
            <a:off x="7042512" y="2309028"/>
            <a:ext cx="12055" cy="638987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89">
            <a:extLst>
              <a:ext uri="{FF2B5EF4-FFF2-40B4-BE49-F238E27FC236}">
                <a16:creationId xmlns:a16="http://schemas.microsoft.com/office/drawing/2014/main" id="{B153B219-31DE-F8E9-2A0C-962CE4046546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7042512" y="2346936"/>
            <a:ext cx="632333" cy="66276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89">
            <a:extLst>
              <a:ext uri="{FF2B5EF4-FFF2-40B4-BE49-F238E27FC236}">
                <a16:creationId xmlns:a16="http://schemas.microsoft.com/office/drawing/2014/main" id="{20B0490C-06D6-DEB8-BEC1-FE86BD483451}"/>
              </a:ext>
            </a:extLst>
          </p:cNvPr>
          <p:cNvCxnSpPr>
            <a:cxnSpLocks/>
          </p:cNvCxnSpPr>
          <p:nvPr/>
        </p:nvCxnSpPr>
        <p:spPr>
          <a:xfrm>
            <a:off x="7042512" y="2333449"/>
            <a:ext cx="1670912" cy="618088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89">
            <a:extLst>
              <a:ext uri="{FF2B5EF4-FFF2-40B4-BE49-F238E27FC236}">
                <a16:creationId xmlns:a16="http://schemas.microsoft.com/office/drawing/2014/main" id="{1F96ECC2-12FC-ECD3-E883-8BCEF97FD143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7018215" y="2309255"/>
            <a:ext cx="2599041" cy="642282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A45AD58-53F8-0B20-DC8C-43BE1798B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545" y="6571038"/>
            <a:ext cx="1383912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222746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02 | BUILD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453419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I would build the platform from foundation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639848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Progressive delivery: establish trust and data foundations before autonomous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755" y="2319965"/>
            <a:ext cx="114063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21" y="2743144"/>
            <a:ext cx="1921296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Cloud • Identity •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464" y="3307737"/>
            <a:ext cx="163115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Private data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9240" y="2296725"/>
            <a:ext cx="107651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5297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6159" y="2699061"/>
            <a:ext cx="1805374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FHIR / HL7 • PDF • Claims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4969" y="3307737"/>
            <a:ext cx="174977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 • Embed •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5998" y="2319965"/>
            <a:ext cx="24134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9D70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983" y="2760672"/>
            <a:ext cx="2084256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LLM • Prompt •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3613" y="3307737"/>
            <a:ext cx="150611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RAG • Model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7569" y="2319965"/>
            <a:ext cx="69179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FAD5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997" y="2731822"/>
            <a:ext cx="2020937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graph • Tools • HITL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2909" y="3307737"/>
            <a:ext cx="142115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Guarded autonomy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22391" y="2319965"/>
            <a:ext cx="113582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5CD3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3934" y="2763449"/>
            <a:ext cx="1857175" cy="39117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1" i="0" dirty="0" err="1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MLOps</a:t>
            </a:r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• </a:t>
            </a:r>
            <a:r>
              <a:rPr sz="1100" b="1" i="0" dirty="0" err="1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AgentOps</a:t>
            </a:r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• SRE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9500" y="3307737"/>
            <a:ext cx="166160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Canary • Observability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0153" y="2319965"/>
            <a:ext cx="55393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7993" y="2763449"/>
            <a:ext cx="157825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Multi-tenant • 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80436" y="3307737"/>
            <a:ext cx="153336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Policy • Optimization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3993316"/>
            <a:ext cx="133459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DELIVERY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437" y="4971726"/>
            <a:ext cx="56034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57384" y="4971726"/>
            <a:ext cx="87293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EVALUATE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72135" y="4971726"/>
            <a:ext cx="54111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PILOT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38163" y="4971726"/>
            <a:ext cx="72385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GOVERN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34803" y="4971726"/>
            <a:ext cx="55393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91422" y="5790113"/>
            <a:ext cx="637283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Gate each phase on measurable quality, security, reliability and business value.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98774"/>
            <a:ext cx="33944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Healthcare AI Platform | Architecture interview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72624F0-81F6-4DE1-B626-D3DE40D642EF}"/>
              </a:ext>
            </a:extLst>
          </p:cNvPr>
          <p:cNvCxnSpPr/>
          <p:nvPr/>
        </p:nvCxnSpPr>
        <p:spPr>
          <a:xfrm>
            <a:off x="1403718" y="5094515"/>
            <a:ext cx="917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14C0CA-0842-BD90-0011-339250EE095C}"/>
              </a:ext>
            </a:extLst>
          </p:cNvPr>
          <p:cNvCxnSpPr/>
          <p:nvPr/>
        </p:nvCxnSpPr>
        <p:spPr>
          <a:xfrm>
            <a:off x="3412448" y="5105400"/>
            <a:ext cx="1221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93F4ED3-AB67-1C2F-FAEB-6F9E23C21DDF}"/>
              </a:ext>
            </a:extLst>
          </p:cNvPr>
          <p:cNvCxnSpPr/>
          <p:nvPr/>
        </p:nvCxnSpPr>
        <p:spPr>
          <a:xfrm>
            <a:off x="5463314" y="5105400"/>
            <a:ext cx="1221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B954CCA-962F-E8FE-56C8-0423BD43C036}"/>
              </a:ext>
            </a:extLst>
          </p:cNvPr>
          <p:cNvCxnSpPr/>
          <p:nvPr/>
        </p:nvCxnSpPr>
        <p:spPr>
          <a:xfrm>
            <a:off x="7628226" y="5083629"/>
            <a:ext cx="10094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30CDB8"/>
                </a:solidFill>
                <a:latin typeface="Aptos"/>
              </a:rPr>
              <a:t>03 |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2500" b="1" i="0">
                <a:solidFill>
                  <a:srgbClr val="F5F8FC"/>
                </a:solidFill>
                <a:latin typeface="Aptos"/>
              </a:rPr>
              <a:t>End-to-end Healthcare AI platform — target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698480" cy="32004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50" b="0" i="0">
                <a:solidFill>
                  <a:srgbClr val="A5B5CC"/>
                </a:solidFill>
                <a:latin typeface="Aptos"/>
              </a:rPr>
              <a:t>Healthcare RCM reference architecture applying enterprise AI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10896"/>
            <a:ext cx="502920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900" b="1" i="0">
                <a:solidFill>
                  <a:srgbClr val="A5B5CC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0392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750" b="1" i="0">
                <a:solidFill>
                  <a:srgbClr val="30CDB8"/>
                </a:solidFill>
                <a:latin typeface="Aptos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750" b="1" i="0">
                <a:solidFill>
                  <a:srgbClr val="5297FF"/>
                </a:solidFill>
                <a:latin typeface="Aptos"/>
              </a:rPr>
              <a:t>AI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27832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750" b="1" i="0">
                <a:solidFill>
                  <a:srgbClr val="9D70FF"/>
                </a:solidFill>
                <a:latin typeface="Aptos"/>
              </a:rPr>
              <a:t>KNOWLEDGE /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16552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750" b="1" i="0">
                <a:solidFill>
                  <a:srgbClr val="FFAD5C"/>
                </a:solidFill>
                <a:latin typeface="Aptos"/>
              </a:rPr>
              <a:t>DATA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05272"/>
            <a:ext cx="1143000" cy="20116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750" b="1" i="0">
                <a:solidFill>
                  <a:srgbClr val="5CD38D"/>
                </a:solidFill>
                <a:latin typeface="Aptos"/>
              </a:rPr>
              <a:t>ENTERPRISE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554480"/>
            <a:ext cx="1417320" cy="68580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1627632"/>
            <a:ext cx="1234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RCM 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1920240"/>
            <a:ext cx="1197864" cy="24688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human /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1554480"/>
            <a:ext cx="50292" cy="68580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49039" y="1554480"/>
            <a:ext cx="1417320" cy="68580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79" y="1627632"/>
            <a:ext cx="1234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Care /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920240"/>
            <a:ext cx="1197864" cy="24688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human /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554480"/>
            <a:ext cx="50292" cy="68580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23560" y="1554480"/>
            <a:ext cx="1417320" cy="68580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1627632"/>
            <a:ext cx="1234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API /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1920240"/>
            <a:ext cx="1197864" cy="24688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human /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1554480"/>
            <a:ext cx="50292" cy="68580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98079" y="1554480"/>
            <a:ext cx="1417320" cy="68580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19" y="1627632"/>
            <a:ext cx="12344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7" y="1920240"/>
            <a:ext cx="1197864" cy="246888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human /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554480"/>
            <a:ext cx="50292" cy="68580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743200" y="2697480"/>
            <a:ext cx="192024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2770632"/>
            <a:ext cx="173736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Agent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063240"/>
            <a:ext cx="170078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LangGraph /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697480"/>
            <a:ext cx="50292" cy="749808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66360" y="2697480"/>
            <a:ext cx="160020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2770632"/>
            <a:ext cx="14173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AI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3063240"/>
            <a:ext cx="138074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auth • 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66360" y="2697480"/>
            <a:ext cx="50292" cy="749808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315200" y="2697480"/>
            <a:ext cx="160020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2770632"/>
            <a:ext cx="14173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HITL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3063240"/>
            <a:ext cx="138074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risk / confidence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697480"/>
            <a:ext cx="50292" cy="749808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828800" y="388620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20240" y="395935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RAG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38528" y="425196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hybrid retrieval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3886200"/>
            <a:ext cx="50292" cy="749808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069080" y="388620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60520" y="395935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Vector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8808" y="425196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Milvus / Qdrant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9080" y="3886200"/>
            <a:ext cx="50292" cy="749808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309360" y="388620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0" y="395935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LLM Router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425196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SLM / frontier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886200"/>
            <a:ext cx="50292" cy="749808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549640" y="388620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41080" y="395935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59367" y="425196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quality / safety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3886200"/>
            <a:ext cx="50292" cy="749808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828800" y="507492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20240" y="514807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FHIR / HL7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38528" y="544068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clinical events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0" y="5074920"/>
            <a:ext cx="50292" cy="749808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4069080" y="507492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60520" y="514807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Documents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78808" y="544068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PDF / notes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9080" y="5074920"/>
            <a:ext cx="50292" cy="749808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309360" y="507492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0" y="514807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Claims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544068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RCM data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5074920"/>
            <a:ext cx="50292" cy="749808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8549640" y="5074920"/>
            <a:ext cx="16459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41080" y="5148072"/>
            <a:ext cx="146304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Data Lake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59367" y="5440680"/>
            <a:ext cx="1426464" cy="310896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A5B5CC"/>
                </a:solidFill>
                <a:latin typeface="Aptos"/>
              </a:rPr>
              <a:t>history / audit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49640" y="5074920"/>
            <a:ext cx="50292" cy="749808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011680" y="5989320"/>
            <a:ext cx="1371600" cy="38404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103120" y="6062472"/>
            <a:ext cx="11887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EHR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11680" y="5989320"/>
            <a:ext cx="50292" cy="384048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4160520" y="5989320"/>
            <a:ext cx="1371600" cy="38404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51959" y="6062472"/>
            <a:ext cx="11887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Payer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5989320"/>
            <a:ext cx="50292" cy="384048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6309360" y="5989320"/>
            <a:ext cx="1371600" cy="38404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0800" y="6062472"/>
            <a:ext cx="11887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Claims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5989320"/>
            <a:ext cx="50292" cy="384048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458200" y="5989320"/>
            <a:ext cx="1371600" cy="38404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49640" y="6062472"/>
            <a:ext cx="1188720" cy="2743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Aptos"/>
              </a:rPr>
              <a:t>Analytics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58200" y="5989320"/>
            <a:ext cx="50292" cy="384048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2578608" y="2240280"/>
            <a:ext cx="0" cy="45720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453128" y="2240280"/>
            <a:ext cx="0" cy="45720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327648" y="2240280"/>
            <a:ext cx="0" cy="45720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29600" y="2240280"/>
            <a:ext cx="0" cy="45720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703320" y="3072384"/>
            <a:ext cx="1417320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784848" y="3072384"/>
            <a:ext cx="512064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2651760" y="3456432"/>
            <a:ext cx="105156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4892040" y="3456432"/>
            <a:ext cx="45720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961888" y="3456432"/>
            <a:ext cx="1124712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092440" y="3456432"/>
            <a:ext cx="114300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651760" y="4636008"/>
            <a:ext cx="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892040" y="4636008"/>
            <a:ext cx="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132320" y="4636008"/>
            <a:ext cx="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81160" y="4636008"/>
            <a:ext cx="0" cy="411480"/>
          </a:xfrm>
          <a:prstGeom prst="line">
            <a:avLst/>
          </a:prstGeom>
          <a:ln w="1397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10195560" y="1417320"/>
            <a:ext cx="1417320" cy="4983480"/>
          </a:xfrm>
          <a:prstGeom prst="roundRect">
            <a:avLst/>
          </a:prstGeom>
          <a:solidFill>
            <a:srgbClr val="0E1C34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287000" y="1664208"/>
            <a:ext cx="1234440" cy="50292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30CDB8"/>
                </a:solidFill>
                <a:latin typeface="Aptos"/>
              </a:rPr>
              <a:t>CONTROL
PLANE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314432" y="2487168"/>
            <a:ext cx="1170432" cy="310896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387584" y="2505456"/>
            <a:ext cx="1024128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IAM / RBAC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314432" y="3054096"/>
            <a:ext cx="1170432" cy="310896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387584" y="3072384"/>
            <a:ext cx="1024128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PHI / DLP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314432" y="3621024"/>
            <a:ext cx="1170432" cy="310896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387584" y="3639312"/>
            <a:ext cx="1024128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GUARDRAILS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314432" y="4187952"/>
            <a:ext cx="1170432" cy="310896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387584" y="4206240"/>
            <a:ext cx="1024128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AUDIT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314432" y="4754880"/>
            <a:ext cx="1170432" cy="310896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87584" y="4773168"/>
            <a:ext cx="1024128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OBSERVE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314432" y="5321808"/>
            <a:ext cx="1170432" cy="310896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387584" y="5340096"/>
            <a:ext cx="1024128" cy="25603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COST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2920" y="6528816"/>
            <a:ext cx="7772400" cy="164592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750" b="0" i="0">
                <a:solidFill>
                  <a:srgbClr val="A5B5CC"/>
                </a:solidFill>
                <a:latin typeface="Aptos"/>
              </a:rPr>
              <a:t>Healthcare target-state architecture | Controls span every layer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2FC5760-83B1-2A1A-6B18-51B9130FFB64}"/>
              </a:ext>
            </a:extLst>
          </p:cNvPr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13794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04 |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48195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RCM workflow: bounded autonomy, not uncontrolled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618848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Deterministic state transitions, isolated tools, confidence gates and human escalation.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62763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357" y="1972493"/>
            <a:ext cx="56675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76" y="2388544"/>
            <a:ext cx="129291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receive + classify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0292" cy="96012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30552" y="2359152"/>
            <a:ext cx="219456" cy="0"/>
          </a:xfrm>
          <a:prstGeom prst="line">
            <a:avLst/>
          </a:prstGeom>
          <a:ln w="2159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59152" y="1874519"/>
            <a:ext cx="162763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43903" y="1972493"/>
            <a:ext cx="65813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3153" y="2388544"/>
            <a:ext cx="145963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EHR / claim parsing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1874519"/>
            <a:ext cx="50292" cy="960120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986784" y="2359152"/>
            <a:ext cx="219456" cy="0"/>
          </a:xfrm>
          <a:prstGeom prst="line">
            <a:avLst/>
          </a:prstGeom>
          <a:ln w="2159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15383" y="1874519"/>
            <a:ext cx="162763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12582" y="1972493"/>
            <a:ext cx="103323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POLICY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3969" y="2388544"/>
            <a:ext cx="169046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payer rules +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3" y="1874519"/>
            <a:ext cx="50292" cy="960120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843016" y="2359152"/>
            <a:ext cx="219455" cy="0"/>
          </a:xfrm>
          <a:prstGeom prst="line">
            <a:avLst/>
          </a:prstGeom>
          <a:ln w="2159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71615" y="1874519"/>
            <a:ext cx="162763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93286" y="1972493"/>
            <a:ext cx="138429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CLINICAL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2559" y="2388544"/>
            <a:ext cx="130574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medical necessity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71615" y="1874519"/>
            <a:ext cx="50292" cy="960120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699247" y="2359152"/>
            <a:ext cx="219456" cy="0"/>
          </a:xfrm>
          <a:prstGeom prst="line">
            <a:avLst/>
          </a:prstGeom>
          <a:ln w="2159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927847" y="1874519"/>
            <a:ext cx="162763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66537" y="1972493"/>
            <a:ext cx="115025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CLAIM SCRUB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5818" y="2388544"/>
            <a:ext cx="149169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ICD / CPT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7847" y="1874519"/>
            <a:ext cx="50292" cy="960120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9555479" y="2359152"/>
            <a:ext cx="219456" cy="0"/>
          </a:xfrm>
          <a:prstGeom prst="line">
            <a:avLst/>
          </a:prstGeom>
          <a:ln w="2159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75906" y="1874518"/>
            <a:ext cx="2013173" cy="960121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64635" y="1972493"/>
            <a:ext cx="86652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3515" y="2352726"/>
            <a:ext cx="1795586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approve / revise / escalate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79" y="1874519"/>
            <a:ext cx="50292" cy="96012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79608" y="3312089"/>
            <a:ext cx="15622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CONFIDENCE GATE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23560" y="2852928"/>
            <a:ext cx="0" cy="438912"/>
          </a:xfrm>
          <a:prstGeom prst="line">
            <a:avLst/>
          </a:prstGeom>
          <a:ln w="17780">
            <a:solidFill>
              <a:srgbClr val="30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794760" y="3703320"/>
            <a:ext cx="182880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5CD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019420" y="3737284"/>
            <a:ext cx="13794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&gt; 92%  →  AUTO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3703320"/>
            <a:ext cx="182880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42834" y="3737284"/>
            <a:ext cx="132177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&lt; 92%  →  HITL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709160" y="3520440"/>
            <a:ext cx="914400" cy="164592"/>
          </a:xfrm>
          <a:prstGeom prst="line">
            <a:avLst/>
          </a:prstGeom>
          <a:ln w="15240">
            <a:solidFill>
              <a:srgbClr val="5C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23560" y="3520440"/>
            <a:ext cx="1280160" cy="164592"/>
          </a:xfrm>
          <a:prstGeom prst="line">
            <a:avLst/>
          </a:prstGeom>
          <a:ln w="1524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5800" y="4663440"/>
            <a:ext cx="1920240" cy="80467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67588" y="4761413"/>
            <a:ext cx="115666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STATE GRAPH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862" y="5099741"/>
            <a:ext cx="107811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max iterations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4663440"/>
            <a:ext cx="50292" cy="804672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898648" y="4663440"/>
            <a:ext cx="1920240" cy="80467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67374" y="4761413"/>
            <a:ext cx="58278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66623" y="5099741"/>
            <a:ext cx="138429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FHIR • SQL • rules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98648" y="4663440"/>
            <a:ext cx="50292" cy="804672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111496" y="4663440"/>
            <a:ext cx="1920240" cy="80467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695263" y="4761413"/>
            <a:ext cx="75270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MEMORY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4393" y="5099741"/>
            <a:ext cx="125444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Redis short-term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1496" y="4663440"/>
            <a:ext cx="50292" cy="804672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324344" y="4663440"/>
            <a:ext cx="1920240" cy="80467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997878" y="4761413"/>
            <a:ext cx="57317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84116" y="5099741"/>
            <a:ext cx="160069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bounded / observable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24344" y="4663440"/>
            <a:ext cx="50292" cy="804672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9537192" y="4663440"/>
            <a:ext cx="1920240" cy="80467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78855" y="4761413"/>
            <a:ext cx="43691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HITL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86920" y="5099741"/>
            <a:ext cx="122078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exception queue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37192" y="4663440"/>
            <a:ext cx="50292" cy="804672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58368" y="5730678"/>
            <a:ext cx="93384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SAFE LOOP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00200" y="5843016"/>
            <a:ext cx="8412480" cy="0"/>
          </a:xfrm>
          <a:prstGeom prst="line">
            <a:avLst/>
          </a:prstGeom>
          <a:ln w="15240">
            <a:solidFill>
              <a:srgbClr val="2C41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609589" y="5721533"/>
            <a:ext cx="30337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validate → retry → escalate → resume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498774"/>
            <a:ext cx="33944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Healthcare AI Platform | Architecture interview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127047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05 | RAG /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386734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Evidence-first GenAI: retrieval before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689701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RAG for changing knowledge; fine-tune only where behavior or format needs specialization.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487" y="1972493"/>
            <a:ext cx="69980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888" y="2349625"/>
            <a:ext cx="913007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payer policy
clinical docs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50292" cy="105156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380743" y="2395728"/>
            <a:ext cx="109729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90472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90958" y="1972493"/>
            <a:ext cx="65973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0657" y="2349625"/>
            <a:ext cx="980333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classify
clean / parse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1874519"/>
            <a:ext cx="50292" cy="1051560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551176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60904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81427" y="1972493"/>
            <a:ext cx="61965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554" y="2349625"/>
            <a:ext cx="911403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parent-child
metadata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0904" y="1874519"/>
            <a:ext cx="50292" cy="1051560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721608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31336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075103" y="1972493"/>
            <a:ext cx="57317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0225" y="2434264"/>
            <a:ext cx="108292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dense + BM25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31336" y="1874519"/>
            <a:ext cx="50292" cy="1051560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892040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01768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09279" y="1972493"/>
            <a:ext cx="84568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3938" y="2434264"/>
            <a:ext cx="99636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hybrid + RRF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1768" y="1874519"/>
            <a:ext cx="50292" cy="1051560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062472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72200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47038" y="1972493"/>
            <a:ext cx="71102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5628" y="2434264"/>
            <a:ext cx="93384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top 100 →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874519"/>
            <a:ext cx="50292" cy="1051560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232904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342632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512660" y="1972493"/>
            <a:ext cx="72064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3161" y="2349625"/>
            <a:ext cx="1039645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few-shot +
policy context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42632" y="1874519"/>
            <a:ext cx="50292" cy="1051560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403336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513064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59423" y="1972493"/>
            <a:ext cx="36798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0043" y="2349625"/>
            <a:ext cx="986745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route by
cost / quality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13064" y="1874519"/>
            <a:ext cx="50292" cy="1051560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9573768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683496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92798" y="1972493"/>
            <a:ext cx="64210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VERIFY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42303" y="2349625"/>
            <a:ext cx="743089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citation +
factuality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83496" y="1874519"/>
            <a:ext cx="50292" cy="1051560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0744200" y="2395728"/>
            <a:ext cx="109728" cy="0"/>
          </a:xfrm>
          <a:prstGeom prst="line">
            <a:avLst/>
          </a:prstGeom>
          <a:ln w="1524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853928" y="1874519"/>
            <a:ext cx="1060704" cy="1051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035177" y="1972493"/>
            <a:ext cx="69820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OUTPUT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72472" y="2349625"/>
            <a:ext cx="1023614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structured
JSON / action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53928" y="1874519"/>
            <a:ext cx="50292" cy="1051560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4360" y="3458393"/>
            <a:ext cx="255608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IMPLEMENTATION C</a:t>
            </a:r>
            <a:r>
              <a:rPr lang="en-IN" sz="1100" b="1" i="0" dirty="0" err="1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omponents</a:t>
            </a:r>
            <a:endParaRPr sz="1100" b="1" i="0" dirty="0">
              <a:solidFill>
                <a:srgbClr val="30CDB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58368" y="3840480"/>
            <a:ext cx="1078992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3451" y="3874445"/>
            <a:ext cx="38882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01952" y="3833297"/>
            <a:ext cx="287027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Changing payer / policy knowledge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6817" y="3833297"/>
            <a:ext cx="278852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Hybrid retrieval • reranking • citations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4389120"/>
            <a:ext cx="1078992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30940" y="4423084"/>
            <a:ext cx="93384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FINE-TUNE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01952" y="4381937"/>
            <a:ext cx="266188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Stable domain behavior / format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58269" y="4373228"/>
            <a:ext cx="266989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PEFT / </a:t>
            </a:r>
            <a:r>
              <a:rPr sz="1100" b="0" i="0" dirty="0" err="1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QLoRA</a:t>
            </a:r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• evaluation • rollback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" y="4937760"/>
            <a:ext cx="1078992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37540" y="4971725"/>
            <a:ext cx="72064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01952" y="4930577"/>
            <a:ext cx="225311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Task instructions / controls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66732" y="4930577"/>
            <a:ext cx="230120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Templates • few-shot • schema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8368" y="5486400"/>
            <a:ext cx="1078992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53570" y="5520365"/>
            <a:ext cx="68858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VECTOR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1952" y="5479217"/>
            <a:ext cx="254326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Semantic memory / knowledge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69578" y="5479217"/>
            <a:ext cx="177542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Milvus / </a:t>
            </a:r>
            <a:r>
              <a:rPr sz="1100" b="0" i="0" dirty="0" err="1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Qdrant</a:t>
            </a:r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• HNSW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0008" y="3886200"/>
            <a:ext cx="212287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232638" y="4084756"/>
            <a:ext cx="61164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&lt;50ms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62583" y="4500809"/>
            <a:ext cx="195175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VECTOR QUERY TARGET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90008" y="5029200"/>
            <a:ext cx="2122872" cy="96012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243859" y="5227757"/>
            <a:ext cx="58920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5CD3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99.4%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60366" y="5643809"/>
            <a:ext cx="175618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CITATION ACCURACY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6498774"/>
            <a:ext cx="33944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Healthcare AI Platform | Architecture interview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0A431A3-1724-0747-01FC-333CB33F6363}"/>
              </a:ext>
            </a:extLst>
          </p:cNvPr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94827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0CDB8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07 |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387695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AI governance is a control plane, not 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627986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Security, compliance, safety and observability are enforced across every AI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5219166" y="2710548"/>
            <a:ext cx="1417320" cy="1417320"/>
          </a:xfrm>
          <a:prstGeom prst="ellipse">
            <a:avLst/>
          </a:prstGeom>
          <a:solidFill>
            <a:srgbClr val="192F4E"/>
          </a:solidFill>
          <a:ln w="1905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2734" y="3001081"/>
            <a:ext cx="573170" cy="563231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AI
TRUST
PLANE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4288982"/>
            <a:ext cx="201168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16561" y="4327299"/>
            <a:ext cx="188282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POLICY ENFORCEMENT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508760"/>
            <a:ext cx="2057400" cy="8961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3465" y="1606733"/>
            <a:ext cx="83926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5156" y="1906142"/>
            <a:ext cx="1595886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Entra / IAM
RBAC / least privilege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508760"/>
            <a:ext cx="50292" cy="896112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2950143" y="2394862"/>
            <a:ext cx="2313432" cy="631371"/>
          </a:xfrm>
          <a:prstGeom prst="line">
            <a:avLst/>
          </a:prstGeom>
          <a:ln w="13970">
            <a:solidFill>
              <a:srgbClr val="30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46120" y="1513116"/>
            <a:ext cx="2057400" cy="8961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31515" y="1611089"/>
            <a:ext cx="48660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1604" y="1910499"/>
            <a:ext cx="1246431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PHI masking
Encryption / DLP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524003"/>
            <a:ext cx="50292" cy="896112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5244083" y="2387462"/>
            <a:ext cx="294514" cy="365760"/>
          </a:xfrm>
          <a:prstGeom prst="line">
            <a:avLst/>
          </a:prstGeom>
          <a:ln w="13970">
            <a:solidFill>
              <a:srgbClr val="529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32464" y="1513124"/>
            <a:ext cx="2057400" cy="8961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66228" y="1611097"/>
            <a:ext cx="61164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8711" y="1910507"/>
            <a:ext cx="1284904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Approved models
Evaluation gates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5122" y="1513124"/>
            <a:ext cx="50292" cy="896112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H="1">
            <a:off x="6428446" y="2397691"/>
            <a:ext cx="886968" cy="486374"/>
          </a:xfrm>
          <a:prstGeom prst="line">
            <a:avLst/>
          </a:prstGeom>
          <a:ln w="13970">
            <a:solidFill>
              <a:srgbClr val="9D7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64040" y="1508760"/>
            <a:ext cx="2057400" cy="8961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97337" y="1606733"/>
            <a:ext cx="59080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1508" y="1906142"/>
            <a:ext cx="1262461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Tool allow-list
HITL / risk policy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1508760"/>
            <a:ext cx="50292" cy="896112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 flipH="1">
            <a:off x="6610028" y="2404872"/>
            <a:ext cx="3058609" cy="854307"/>
          </a:xfrm>
          <a:prstGeom prst="line">
            <a:avLst/>
          </a:prstGeom>
          <a:ln w="13970">
            <a:solidFill>
              <a:srgbClr val="FFAD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28800" y="4754880"/>
            <a:ext cx="2057400" cy="8961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73319" y="4852853"/>
            <a:ext cx="56836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72568" y="5152263"/>
            <a:ext cx="1369863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Prompt / response
Decision lineage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4754880"/>
            <a:ext cx="50292" cy="896112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5" name="Connector 34"/>
          <p:cNvCxnSpPr>
            <a:cxnSpLocks/>
          </p:cNvCxnSpPr>
          <p:nvPr/>
        </p:nvCxnSpPr>
        <p:spPr>
          <a:xfrm flipV="1">
            <a:off x="3872713" y="3786269"/>
            <a:ext cx="1439950" cy="991798"/>
          </a:xfrm>
          <a:prstGeom prst="line">
            <a:avLst/>
          </a:prstGeom>
          <a:ln w="13970">
            <a:solidFill>
              <a:srgbClr val="5CD3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732520" y="4754880"/>
            <a:ext cx="2057400" cy="8961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64027" y="4852853"/>
            <a:ext cx="79438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OBSERVE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1360" y="5152263"/>
            <a:ext cx="1079719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Trace / tokens
Latency /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4754880"/>
            <a:ext cx="50292" cy="896112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0" name="Connector 39"/>
          <p:cNvCxnSpPr>
            <a:cxnSpLocks/>
          </p:cNvCxnSpPr>
          <p:nvPr/>
        </p:nvCxnSpPr>
        <p:spPr>
          <a:xfrm flipH="1" flipV="1">
            <a:off x="6519672" y="3759055"/>
            <a:ext cx="2212847" cy="1068977"/>
          </a:xfrm>
          <a:prstGeom prst="line">
            <a:avLst/>
          </a:prstGeom>
          <a:ln w="13970">
            <a:solidFill>
              <a:srgbClr val="30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927273"/>
            <a:ext cx="189244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5F8F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HIPAA / BAA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5927273"/>
            <a:ext cx="129291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private endpoints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927273"/>
            <a:ext cx="199823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prompt injection / jailbreak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927273"/>
            <a:ext cx="154619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immutable audit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927273"/>
            <a:ext cx="168725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bias / factuality 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98774"/>
            <a:ext cx="33944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5B5CC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Healthcare AI Platform | Architecture interview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446E7E-8C45-D277-A152-5C6C4BB42599}"/>
              </a:ext>
            </a:extLst>
          </p:cNvPr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151092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06 |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349384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Cloud + Data + MLOps / AgentOps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625741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Treat prompts, agents, models, indexes and workflows as versioned production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600200"/>
            <a:ext cx="713232" cy="71323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2387" y="1798758"/>
            <a:ext cx="49141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14" y="2498273"/>
            <a:ext cx="142436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Git / Azure DevOps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1956816"/>
            <a:ext cx="877824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075688" y="1600200"/>
            <a:ext cx="713232" cy="71323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09839" y="1798758"/>
            <a:ext cx="44493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320" y="2498273"/>
            <a:ext cx="142596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Prompt + RAG eval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07208" y="1956816"/>
            <a:ext cx="877824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657231" y="1600199"/>
            <a:ext cx="895051" cy="763523"/>
          </a:xfrm>
          <a:prstGeom prst="ellipse">
            <a:avLst/>
          </a:prstGeom>
          <a:solidFill>
            <a:srgbClr val="142642"/>
          </a:solidFill>
          <a:ln w="1905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97716" y="1798758"/>
            <a:ext cx="79759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659" y="2498273"/>
            <a:ext cx="149970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containers / registry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71416" y="1956816"/>
            <a:ext cx="877824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342150" y="1600200"/>
            <a:ext cx="818730" cy="71323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05206" y="1798758"/>
            <a:ext cx="71102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8606" y="2498273"/>
            <a:ext cx="92422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blue / green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35624" y="1956816"/>
            <a:ext cx="877824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068312" y="1600200"/>
            <a:ext cx="713232" cy="71323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5CD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24905" y="1798758"/>
            <a:ext cx="40004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8537" y="2498273"/>
            <a:ext cx="79278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AKS / EKS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99832" y="1956816"/>
            <a:ext cx="877824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666686" y="1600200"/>
            <a:ext cx="877824" cy="71323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91942" y="1798758"/>
            <a:ext cx="79438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1456" y="2498273"/>
            <a:ext cx="131536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trace / cost / SLO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64040" y="1956816"/>
            <a:ext cx="877823" cy="0"/>
          </a:xfrm>
          <a:prstGeom prst="line">
            <a:avLst/>
          </a:prstGeom>
          <a:ln w="1778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396728" y="1600200"/>
            <a:ext cx="713232" cy="71323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462750" y="1798758"/>
            <a:ext cx="58118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7342" y="2498273"/>
            <a:ext cx="123200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human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248081"/>
            <a:ext cx="170168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 STACK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282" y="3675887"/>
            <a:ext cx="3508704" cy="749808"/>
          </a:xfrm>
          <a:prstGeom prst="roundRect">
            <a:avLst>
              <a:gd name="adj" fmla="val 3601"/>
            </a:avLst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34466" y="3773860"/>
            <a:ext cx="96590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639" y="4104351"/>
            <a:ext cx="349063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 err="1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vLLM</a:t>
            </a:r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/ Triton  •  auto scale GPU / model routing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675887"/>
            <a:ext cx="50292" cy="749808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361688" y="3675887"/>
            <a:ext cx="32461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48469" y="3773860"/>
            <a:ext cx="67255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8390" y="4084757"/>
            <a:ext cx="289271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Kafka  •  real-time EHR / claim changes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1688" y="3675887"/>
            <a:ext cx="50292" cy="749808"/>
          </a:xfrm>
          <a:prstGeom prst="rect">
            <a:avLst/>
          </a:prstGeom>
          <a:solidFill>
            <a:srgbClr val="9D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129016" y="3675887"/>
            <a:ext cx="32461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08771" y="3773860"/>
            <a:ext cx="48660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0646" y="4084757"/>
            <a:ext cx="318285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Spark / Delta  •  features / history / lineage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29016" y="3675887"/>
            <a:ext cx="50292" cy="749808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94360" y="4727448"/>
            <a:ext cx="32461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25224" y="4825421"/>
            <a:ext cx="58439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CACHE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908" y="5136317"/>
            <a:ext cx="284302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Redis  •  semantic cache / 40% bypass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4727448"/>
            <a:ext cx="50292" cy="749808"/>
          </a:xfrm>
          <a:prstGeom prst="rect">
            <a:avLst/>
          </a:prstGeom>
          <a:solidFill>
            <a:srgbClr val="30C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361688" y="4727448"/>
            <a:ext cx="3246120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52289" y="4825421"/>
            <a:ext cx="86491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REGISTRY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27783" y="5136317"/>
            <a:ext cx="311392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MLflow  •  model / prompt / index versions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61688" y="4727448"/>
            <a:ext cx="50292" cy="749808"/>
          </a:xfrm>
          <a:prstGeom prst="rect">
            <a:avLst/>
          </a:prstGeom>
          <a:solidFill>
            <a:srgbClr val="5CD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129016" y="4727448"/>
            <a:ext cx="3529584" cy="749808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54883" y="4825421"/>
            <a:ext cx="79438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4462" y="5162443"/>
            <a:ext cx="352109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Open Telemetry  •  latency / tokens / tool traces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29016" y="4727448"/>
            <a:ext cx="50292" cy="749808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592005" y="5897880"/>
            <a:ext cx="4502023" cy="438912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697538" y="5959278"/>
            <a:ext cx="431938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ZERO-DOWNTIME RELEASES  •  CANARY + ROLLBACK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6498774"/>
            <a:ext cx="33944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Healthcare AI Platform | Architecture interview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122559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Aptos"/>
              </a:rPr>
              <a:t>08 |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450373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Architectural decisions: trade-offs translated into measurable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389779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Aptos"/>
              </a:rPr>
              <a:t>The interview story: problem → decision → engineering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6798" y="326573"/>
            <a:ext cx="20608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88445"/>
            <a:ext cx="113903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9D70FF"/>
                </a:solidFill>
                <a:latin typeface="Aptos"/>
              </a:rPr>
              <a:t>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588445"/>
            <a:ext cx="172572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Hybrid RAG + citation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36192"/>
            <a:ext cx="333756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" name="TextBox 9"/>
          <p:cNvSpPr txBox="1"/>
          <p:nvPr/>
        </p:nvSpPr>
        <p:spPr>
          <a:xfrm>
            <a:off x="8283889" y="1570157"/>
            <a:ext cx="158306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99.4% citation accuracy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103120"/>
            <a:ext cx="10104120" cy="0"/>
          </a:xfrm>
          <a:prstGeom prst="line">
            <a:avLst/>
          </a:prstGeom>
          <a:ln w="1016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612573"/>
            <a:ext cx="112300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Aptos"/>
              </a:rPr>
              <a:t>LATENCY /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12573"/>
            <a:ext cx="209442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Model routing + semantic 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560320"/>
            <a:ext cx="333756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TextBox 14"/>
          <p:cNvSpPr txBox="1"/>
          <p:nvPr/>
        </p:nvSpPr>
        <p:spPr>
          <a:xfrm>
            <a:off x="8732730" y="2594285"/>
            <a:ext cx="685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18s → 3.2s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27248"/>
            <a:ext cx="10104120" cy="0"/>
          </a:xfrm>
          <a:prstGeom prst="line">
            <a:avLst/>
          </a:prstGeom>
          <a:ln w="1016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636701"/>
            <a:ext cx="144199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5297FF"/>
                </a:solidFill>
                <a:latin typeface="Aptos"/>
              </a:rPr>
              <a:t>CONTEXT OVERFLOW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36701"/>
            <a:ext cx="18459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Hierarchical summarization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584448"/>
            <a:ext cx="333756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TextBox 19"/>
          <p:cNvSpPr txBox="1"/>
          <p:nvPr/>
        </p:nvSpPr>
        <p:spPr>
          <a:xfrm>
            <a:off x="8307934" y="3618413"/>
            <a:ext cx="153497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100% context retention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151376"/>
            <a:ext cx="10104120" cy="0"/>
          </a:xfrm>
          <a:prstGeom prst="line">
            <a:avLst/>
          </a:prstGeom>
          <a:ln w="1016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4660829"/>
            <a:ext cx="97712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5CD38D"/>
                </a:solidFill>
                <a:latin typeface="Aptos"/>
              </a:rPr>
              <a:t>AGENT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660829"/>
            <a:ext cx="162474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LangGraph state bounds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608576"/>
            <a:ext cx="3337560" cy="310896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5CD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5" name="TextBox 24"/>
          <p:cNvSpPr txBox="1"/>
          <p:nvPr/>
        </p:nvSpPr>
        <p:spPr>
          <a:xfrm>
            <a:off x="8181297" y="4642541"/>
            <a:ext cx="178824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Zero infinite-loop incidents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77840"/>
            <a:ext cx="10012680" cy="530352"/>
          </a:xfrm>
          <a:prstGeom prst="roundRect">
            <a:avLst/>
          </a:prstGeom>
          <a:solidFill>
            <a:srgbClr val="192F4E"/>
          </a:solidFill>
          <a:ln w="1270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2847162" y="5712389"/>
            <a:ext cx="5689955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30CDB8"/>
                </a:solidFill>
                <a:latin typeface="Aptos"/>
              </a:rPr>
              <a:t>ARCHITECTURE RULE  →  Prefer deterministic controls around probabilistic components.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8774"/>
            <a:ext cx="286546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Aptos"/>
              </a:rPr>
              <a:t>Healthcare AI Platform | Architecture interview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71088" y="6498774"/>
            <a:ext cx="103323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 dirty="0">
                <a:solidFill>
                  <a:srgbClr val="A5B5CC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71709"/>
            <a:ext cx="206877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09 | BUSINESS +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69473"/>
            <a:ext cx="437389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Business outcomes today; autonomous RCM tomorrow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1809"/>
            <a:ext cx="703006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 production telemetry to connect AI decisions to cost, cycle time, quality and analyst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5501" y="326573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2450592" cy="13533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1199" y="1771325"/>
            <a:ext cx="43691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155" y="2299335"/>
            <a:ext cx="1551002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 AUTH
PROCESSING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572768"/>
            <a:ext cx="2450592" cy="13533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09787" y="1771325"/>
            <a:ext cx="54271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AD5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$4.2M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0295" y="2299335"/>
            <a:ext cx="1281698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ANNUAL COST
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572768"/>
            <a:ext cx="2450592" cy="13533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24175" y="1771325"/>
            <a:ext cx="43691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5CD38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2629" y="2299335"/>
            <a:ext cx="1660006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FIRST-PASS CLEAN
CLAIM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8824" y="1572768"/>
            <a:ext cx="2450592" cy="1353312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2C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02494" y="1771325"/>
            <a:ext cx="40325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5297F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73" y="2299335"/>
            <a:ext cx="1280094" cy="39395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ANALYST
PRODUCTIVITY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48081"/>
            <a:ext cx="141314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OUTCOME CHAIN</a:t>
            </a:r>
          </a:p>
        </p:txBody>
      </p:sp>
      <p:sp>
        <p:nvSpPr>
          <p:cNvPr id="20" name="Oval 19"/>
          <p:cNvSpPr/>
          <p:nvPr/>
        </p:nvSpPr>
        <p:spPr>
          <a:xfrm>
            <a:off x="670806" y="3685032"/>
            <a:ext cx="1017537" cy="868679"/>
          </a:xfrm>
          <a:prstGeom prst="ellipse">
            <a:avLst/>
          </a:prstGeom>
          <a:solidFill>
            <a:srgbClr val="142642"/>
          </a:solidFill>
          <a:ln w="19050">
            <a:solidFill>
              <a:srgbClr val="30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5057" y="4020750"/>
            <a:ext cx="92903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803" y="4660829"/>
            <a:ext cx="77354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cycle time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18488" y="4151376"/>
            <a:ext cx="1627632" cy="0"/>
          </a:xfrm>
          <a:prstGeom prst="line">
            <a:avLst/>
          </a:prstGeom>
          <a:ln w="1651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430361" y="3685032"/>
            <a:ext cx="893673" cy="868679"/>
          </a:xfrm>
          <a:prstGeom prst="ellipse">
            <a:avLst/>
          </a:prstGeom>
          <a:solidFill>
            <a:srgbClr val="142642"/>
          </a:solidFill>
          <a:ln w="1905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58223" y="4020750"/>
            <a:ext cx="837666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AUGMENT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7084" y="4660829"/>
            <a:ext cx="119994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analyst capacity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15968" y="4151376"/>
            <a:ext cx="1627632" cy="0"/>
          </a:xfrm>
          <a:prstGeom prst="line">
            <a:avLst/>
          </a:prstGeom>
          <a:ln w="1651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172200" y="3749039"/>
            <a:ext cx="804672" cy="80467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66924" y="4020750"/>
            <a:ext cx="815223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241" y="4660829"/>
            <a:ext cx="111658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error / leakage</a:t>
            </a: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>
            <a:off x="7132830" y="4151376"/>
            <a:ext cx="2769664" cy="0"/>
          </a:xfrm>
          <a:prstGeom prst="line">
            <a:avLst/>
          </a:prstGeom>
          <a:ln w="16510">
            <a:solidFill>
              <a:srgbClr val="2C41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086735" y="3799552"/>
            <a:ext cx="827339" cy="714972"/>
          </a:xfrm>
          <a:prstGeom prst="ellipse">
            <a:avLst/>
          </a:prstGeom>
          <a:solidFill>
            <a:srgbClr val="142642"/>
          </a:solidFill>
          <a:ln w="19050">
            <a:solidFill>
              <a:srgbClr val="FFA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14881" y="4068214"/>
            <a:ext cx="799194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494" y="4642548"/>
            <a:ext cx="124001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revenue / claims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87193"/>
            <a:ext cx="1230401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30CDB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NEXT 3 MOVES</a:t>
            </a:r>
          </a:p>
        </p:txBody>
      </p:sp>
      <p:sp>
        <p:nvSpPr>
          <p:cNvPr id="36" name="Oval 35"/>
          <p:cNvSpPr/>
          <p:nvPr/>
        </p:nvSpPr>
        <p:spPr>
          <a:xfrm>
            <a:off x="2011680" y="5148072"/>
            <a:ext cx="530352" cy="530352"/>
          </a:xfrm>
          <a:prstGeom prst="ellipse">
            <a:avLst/>
          </a:prstGeom>
          <a:solidFill>
            <a:srgbClr val="192F4E"/>
          </a:solidFill>
          <a:ln w="19050">
            <a:solidFill>
              <a:srgbClr val="9D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48167" y="5273478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70048" y="5108886"/>
            <a:ext cx="152856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MULTIMODAL RCM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0048" y="5438069"/>
            <a:ext cx="2023887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VLM for charts / documents</a:t>
            </a:r>
          </a:p>
        </p:txBody>
      </p:sp>
      <p:sp>
        <p:nvSpPr>
          <p:cNvPr id="40" name="Oval 39"/>
          <p:cNvSpPr/>
          <p:nvPr/>
        </p:nvSpPr>
        <p:spPr>
          <a:xfrm>
            <a:off x="5074920" y="5148072"/>
            <a:ext cx="530352" cy="530352"/>
          </a:xfrm>
          <a:prstGeom prst="ellipse">
            <a:avLst/>
          </a:prstGeom>
          <a:solidFill>
            <a:srgbClr val="192F4E"/>
          </a:solidFill>
          <a:ln w="1905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11407" y="5273478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33288" y="5108886"/>
            <a:ext cx="193892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ADAPTIVE KNOWLEDGE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33288" y="5438069"/>
            <a:ext cx="3267818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new payer policies with minimal code change</a:t>
            </a:r>
          </a:p>
        </p:txBody>
      </p:sp>
      <p:sp>
        <p:nvSpPr>
          <p:cNvPr id="44" name="Oval 43"/>
          <p:cNvSpPr/>
          <p:nvPr/>
        </p:nvSpPr>
        <p:spPr>
          <a:xfrm>
            <a:off x="9105419" y="4914252"/>
            <a:ext cx="530352" cy="530352"/>
          </a:xfrm>
          <a:prstGeom prst="ellipse">
            <a:avLst/>
          </a:prstGeom>
          <a:solidFill>
            <a:srgbClr val="192F4E"/>
          </a:solidFill>
          <a:ln w="19050">
            <a:solidFill>
              <a:srgbClr val="5CD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207121" y="5083196"/>
            <a:ext cx="2573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1357" y="5108886"/>
            <a:ext cx="1209562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F5F8F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PRIVATE SLMs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07121" y="5444604"/>
            <a:ext cx="271317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 dirty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3B/7B on-prem / edge PHI workflows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114726"/>
            <a:ext cx="804156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1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Source deck states 1.2M annual claims / production validation; validate figures and attribution before interview.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98774"/>
            <a:ext cx="7336239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Healthcare target state + enterprise AI delivery patterns | Outcome figures retained from source deck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32240" y="6498774"/>
            <a:ext cx="1272080" cy="224677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A5B5C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1145</Words>
  <Application>Microsoft Office PowerPoint</Application>
  <PresentationFormat>Widescreen</PresentationFormat>
  <Paragraphs>320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Sivadutta Panigrahi</cp:lastModifiedBy>
  <cp:revision>14</cp:revision>
  <dcterms:created xsi:type="dcterms:W3CDTF">2013-01-27T09:14:16Z</dcterms:created>
  <dcterms:modified xsi:type="dcterms:W3CDTF">2026-09-22T06:21:51Z</dcterms:modified>
  <cp:category/>
</cp:coreProperties>
</file>